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Abertura: não vendemos software, vendemos pipeline de vendas. A tese em uma frase: a fiscalização da ANATEL criou um mercado de clientes que precisam de vocês e ainda não sabem.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Contexto regulatório em 60 segundos. O ponto de virada foi fev/2026: sem liminar, o ML remove. Vendedor com anúncio removido = cliente urgente de certificação.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Espelhar a dor deles antes da solução. Perguntar: como vocês prospectam hoje? Quanto custa fechar um contrato novo?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coração do pitch. Enfatizar: o output não é "dados", é material de abordagem pronto — o vendedor deles pega o relatório e envia.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o relatório real (demo CertifiQA). Ponto-chave: o lojista não recebe propaganda, recebe um diagnóstico com números da loja dele — reciprocidade + urgência.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comercial deles abre isso na segunda-feira e sabe quem ligar primeiro e com qual número na boca.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psicologia da abordagem: reciprocidade (diagnóstico grátis) + prova (dados públicos) + urgência (remoção em curso). O relatório declara os próprios limites — isso aumenta a confiança.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Piloto barato, curto, com critério de sucesso objetivo. A frase "risco nosso" derruba a principal objeção.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Ancorar no valor do contrato de homologação, nunca no custo do software. Se pedirem desconto: trocar por compromisso (case de sucesso, indicação, anualidade).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Antecipar as objeções de compliance da própria certificadora — o público mais sensível a isso. O sistema é conservador de propósito.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Fechar pedindo uma coisa pequena e concreta: a lista de 10 lojas. Quem manda a lista já é cliente do piloto.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8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795528"/>
            <a:ext cx="146304" cy="146304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3" name="Text 1"/>
          <p:cNvSpPr/>
          <p:nvPr/>
        </p:nvSpPr>
        <p:spPr>
          <a:xfrm>
            <a:off x="1060704" y="66751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RADAR CONFORMIDADE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841248" y="2743200"/>
            <a:ext cx="182880" cy="182880"/>
          </a:xfrm>
          <a:prstGeom prst="ellipse">
            <a:avLst/>
          </a:prstGeom>
          <a:solidFill>
            <a:srgbClr val="B91C1C"/>
          </a:solidFill>
          <a:ln/>
        </p:spPr>
      </p:sp>
      <p:sp>
        <p:nvSpPr>
          <p:cNvPr id="5" name="Shape 3"/>
          <p:cNvSpPr/>
          <p:nvPr/>
        </p:nvSpPr>
        <p:spPr>
          <a:xfrm>
            <a:off x="1152144" y="2743200"/>
            <a:ext cx="182880" cy="182880"/>
          </a:xfrm>
          <a:prstGeom prst="ellipse">
            <a:avLst/>
          </a:prstGeom>
          <a:solidFill>
            <a:srgbClr val="EAB308"/>
          </a:solidFill>
          <a:ln/>
        </p:spPr>
      </p:sp>
      <p:sp>
        <p:nvSpPr>
          <p:cNvPr id="6" name="Shape 4"/>
          <p:cNvSpPr/>
          <p:nvPr/>
        </p:nvSpPr>
        <p:spPr>
          <a:xfrm>
            <a:off x="1463040" y="2743200"/>
            <a:ext cx="182880" cy="182880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971800"/>
            <a:ext cx="8778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Leads qualificados para</a:t>
            </a:r>
            <a:endParaRPr lang="en-US" sz="44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quem vende homologação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777240" y="489204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Res. ANATEL 780/2025 criou um estoque de marcas que precisam homologar — e ainda não sabem.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Radar Conformidade encontra, qualifica e entrega o lead com a sua marca.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" y="6172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8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Proposta de licenciamento white-label · consultorias e certificadoras ·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21208"/>
            <a:ext cx="146304" cy="146304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3" name="Text 1"/>
          <p:cNvSpPr/>
          <p:nvPr/>
        </p:nvSpPr>
        <p:spPr>
          <a:xfrm>
            <a:off x="1060704" y="39319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RADAR CONFORMIDADE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91440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mercado de certificação nunca teve</a:t>
            </a:r>
            <a:endParaRPr lang="en-US" sz="32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3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momento como este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2697480"/>
            <a:ext cx="3383280" cy="3017520"/>
          </a:xfrm>
          <a:prstGeom prst="roundRect">
            <a:avLst>
              <a:gd name="adj" fmla="val 242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" y="3017520"/>
            <a:ext cx="566928" cy="5669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4148" y="3150108"/>
            <a:ext cx="301752" cy="30175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51560" y="379476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Res. 780/2025 em pleno vigor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051560" y="452628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Desde a queda da liminar do Mercado Livre (fev/2026): anúncios de produtos de RF/telecom são obrigados a exibir o código de homologação.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434840" y="2697480"/>
            <a:ext cx="3383280" cy="3017520"/>
          </a:xfrm>
          <a:prstGeom prst="roundRect">
            <a:avLst>
              <a:gd name="adj" fmla="val 242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709160" y="3017520"/>
            <a:ext cx="566928" cy="5669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1748" y="3150108"/>
            <a:ext cx="301752" cy="30175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09160" y="379476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Fiscalização por IA (Regulatron)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4709160" y="452628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ANATEL varre marketplaces com ferramenta própria. Milhares de anúncios já foram removidos — e a varredura não para.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092440" y="2697480"/>
            <a:ext cx="3383280" cy="3017520"/>
          </a:xfrm>
          <a:prstGeom prst="roundRect">
            <a:avLst>
              <a:gd name="adj" fmla="val 242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366760" y="3017520"/>
            <a:ext cx="566928" cy="5669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9348" y="3150108"/>
            <a:ext cx="301752" cy="30175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66760" y="379476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Responsabilidade solidária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8366760" y="452628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Marketplace e vendedor respondem juntos. O ML agora remove anúncios irregulares por conta própria — o vendedor sente no caixa.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777240" y="60350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Tradução comercial: existe um estoque enorme de clientes que precisam homologar — agora, e sob pressão.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1147572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21208"/>
            <a:ext cx="146304" cy="146304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3" name="Text 1"/>
          <p:cNvSpPr/>
          <p:nvPr/>
        </p:nvSpPr>
        <p:spPr>
          <a:xfrm>
            <a:off x="1060704" y="39319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RADAR CONFORMIDADE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9144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 prospectar esses clientes é caro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68680" y="2084832"/>
            <a:ext cx="548640" cy="548640"/>
          </a:xfrm>
          <a:prstGeom prst="ellipse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6696" y="2212848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2011680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leads quentes já sabem — e têm pressa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691640" y="2423160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Quem teve anúncio removido recebeu o aviso do próprio ML e está procurando ajuda AGORA. Quem chega primeiro leva o contrato.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868680" y="3410712"/>
            <a:ext cx="548640" cy="548640"/>
          </a:xfrm>
          <a:prstGeom prst="ellipse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" y="3538728"/>
            <a:ext cx="292608" cy="29260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91640" y="3337560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próximos ainda não sabem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1691640" y="3749040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Marcas com anúncio irregular no ar são a fila da próxima remoção — mas encontrá-las exige analisar catálogos anúncio por anúncio.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868680" y="4736592"/>
            <a:ext cx="548640" cy="548640"/>
          </a:xfrm>
          <a:prstGeom prst="ellipse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" y="4864608"/>
            <a:ext cx="292608" cy="29260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691640" y="4663440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Nem todo irregular é cliente</a:t>
            </a:r>
            <a:endParaRPr lang="en-US" sz="1800" dirty="0"/>
          </a:p>
        </p:txBody>
      </p:sp>
      <p:sp>
        <p:nvSpPr>
          <p:cNvPr id="16" name="Text 11"/>
          <p:cNvSpPr/>
          <p:nvPr/>
        </p:nvSpPr>
        <p:spPr>
          <a:xfrm>
            <a:off x="1691640" y="5074920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Revendedor de produto genérico troca de fornecedor, não certifica. Sem filtrar marca própria/importador, a lista vira spam.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777240" y="5897880"/>
            <a:ext cx="10607040" cy="658368"/>
          </a:xfrm>
          <a:prstGeom prst="roundRect">
            <a:avLst>
              <a:gd name="adj" fmla="val 11111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1051560" y="5897880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Resultado: o custo de aquisição come a margem de um serviço que o mercado inteiro precisa comprar.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1147572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28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21208"/>
            <a:ext cx="146304" cy="146304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3" name="Text 1"/>
          <p:cNvSpPr/>
          <p:nvPr/>
        </p:nvSpPr>
        <p:spPr>
          <a:xfrm>
            <a:off x="1060704" y="39319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RADAR CONFORMIDADE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960120"/>
            <a:ext cx="10607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Radar Conformidade: da loja irregular</a:t>
            </a:r>
            <a:endParaRPr lang="en-US" sz="30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 lead pronto, em três passos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77240" y="2606040"/>
            <a:ext cx="3337560" cy="3200400"/>
          </a:xfrm>
          <a:prstGeom prst="roundRect">
            <a:avLst>
              <a:gd name="adj" fmla="val 2286"/>
            </a:avLst>
          </a:prstGeom>
          <a:solidFill>
            <a:srgbClr val="1E3A5F"/>
          </a:solidFill>
          <a:ln w="12700">
            <a:solidFill>
              <a:srgbClr val="2E4A7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" y="2926080"/>
            <a:ext cx="603504" cy="603504"/>
          </a:xfrm>
          <a:prstGeom prst="ellipse">
            <a:avLst/>
          </a:prstGeom>
          <a:solidFill>
            <a:srgbClr val="14283F"/>
          </a:solidFill>
          <a:ln w="12700">
            <a:solidFill>
              <a:srgbClr val="2E4A7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2436" y="3076956"/>
            <a:ext cx="301752" cy="30175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51560" y="374904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Escanear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1051560" y="4251960"/>
            <a:ext cx="27889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Você indica as lojas do seu nicho. O sistema analisa cada anúncio: classifica ANATEL/INMETRO e confere o código de homologação na base pública.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4142232" y="384048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3000" dirty="0"/>
          </a:p>
        </p:txBody>
      </p:sp>
      <p:sp>
        <p:nvSpPr>
          <p:cNvPr id="11" name="Shape 8"/>
          <p:cNvSpPr/>
          <p:nvPr/>
        </p:nvSpPr>
        <p:spPr>
          <a:xfrm>
            <a:off x="4480560" y="2606040"/>
            <a:ext cx="3337560" cy="3200400"/>
          </a:xfrm>
          <a:prstGeom prst="roundRect">
            <a:avLst>
              <a:gd name="adj" fmla="val 2286"/>
            </a:avLst>
          </a:prstGeom>
          <a:solidFill>
            <a:srgbClr val="1E3A5F"/>
          </a:solidFill>
          <a:ln w="12700">
            <a:solidFill>
              <a:srgbClr val="2E4A7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754880" y="2926080"/>
            <a:ext cx="603504" cy="603504"/>
          </a:xfrm>
          <a:prstGeom prst="ellipse">
            <a:avLst/>
          </a:prstGeom>
          <a:solidFill>
            <a:srgbClr val="14283F"/>
          </a:solidFill>
          <a:ln w="12700">
            <a:solidFill>
              <a:srgbClr val="2E4A70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5756" y="3076956"/>
            <a:ext cx="301752" cy="30175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754880" y="374904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Priorizar</a:t>
            </a:r>
            <a:endParaRPr lang="en-US" sz="1900" dirty="0"/>
          </a:p>
        </p:txBody>
      </p:sp>
      <p:sp>
        <p:nvSpPr>
          <p:cNvPr id="15" name="Text 11"/>
          <p:cNvSpPr/>
          <p:nvPr/>
        </p:nvSpPr>
        <p:spPr>
          <a:xfrm>
            <a:off x="4754880" y="4251960"/>
            <a:ext cx="27889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Ranking de leads ordenado por oportunidade: nº de anúncios críticos e faturamento mensal em risco — a dor já quantificada em R$.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7845552" y="384048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3000" dirty="0"/>
          </a:p>
        </p:txBody>
      </p:sp>
      <p:sp>
        <p:nvSpPr>
          <p:cNvPr id="17" name="Shape 13"/>
          <p:cNvSpPr/>
          <p:nvPr/>
        </p:nvSpPr>
        <p:spPr>
          <a:xfrm>
            <a:off x="8183880" y="2606040"/>
            <a:ext cx="3337560" cy="3200400"/>
          </a:xfrm>
          <a:prstGeom prst="roundRect">
            <a:avLst>
              <a:gd name="adj" fmla="val 2286"/>
            </a:avLst>
          </a:prstGeom>
          <a:solidFill>
            <a:srgbClr val="1E3A5F"/>
          </a:solidFill>
          <a:ln w="12700">
            <a:solidFill>
              <a:srgbClr val="2E4A70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8458200" y="2926080"/>
            <a:ext cx="603504" cy="603504"/>
          </a:xfrm>
          <a:prstGeom prst="ellipse">
            <a:avLst/>
          </a:prstGeom>
          <a:solidFill>
            <a:srgbClr val="14283F"/>
          </a:solidFill>
          <a:ln w="12700">
            <a:solidFill>
              <a:srgbClr val="2E4A70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9076" y="3076956"/>
            <a:ext cx="301752" cy="30175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458200" y="374904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Abordar</a:t>
            </a:r>
            <a:endParaRPr lang="en-US" sz="1900" dirty="0"/>
          </a:p>
        </p:txBody>
      </p:sp>
      <p:sp>
        <p:nvSpPr>
          <p:cNvPr id="21" name="Text 16"/>
          <p:cNvSpPr/>
          <p:nvPr/>
        </p:nvSpPr>
        <p:spPr>
          <a:xfrm>
            <a:off x="8458200" y="4251960"/>
            <a:ext cx="27889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Relatório profissional com a SUA marca, pronto para enviar ao lojista como diagnóstico gratuito. O caminho de regularização aponta para o seu serviço.</a:t>
            </a:r>
            <a:endParaRPr lang="en-US" sz="1250" dirty="0"/>
          </a:p>
        </p:txBody>
      </p:sp>
      <p:sp>
        <p:nvSpPr>
          <p:cNvPr id="22" name="Text 17"/>
          <p:cNvSpPr/>
          <p:nvPr/>
        </p:nvSpPr>
        <p:spPr>
          <a:xfrm>
            <a:off x="777240" y="608076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FA8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instalação, sem TI: entrega mensal de ranking + relatórios, ou operação pela sua equipe.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1147572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21208"/>
            <a:ext cx="146304" cy="146304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3" name="Text 1"/>
          <p:cNvSpPr/>
          <p:nvPr/>
        </p:nvSpPr>
        <p:spPr>
          <a:xfrm>
            <a:off x="1060704" y="39319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RADAR CONFORMIDADE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1051560"/>
            <a:ext cx="5852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arma de abordagem:</a:t>
            </a:r>
            <a:endParaRPr lang="en-US" sz="30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relatório com a sua marca</a:t>
            </a:r>
            <a:endParaRPr lang="en-US" sz="3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770632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2743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Sua identidade, não a nossa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325880" y="310896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Nome, cores, contato e chamada comercial da certificadora — o lojista recebe um diagnóstico seu.</a:t>
            </a:r>
            <a:endParaRPr lang="en-US" sz="12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3913632"/>
            <a:ext cx="274320" cy="274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25880" y="3886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número que abre a porta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1325880" y="425196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"Faturamento mensal em risco: R$ 17–39 mil" — faixa estimada com preço × vendas dos anúncios críticos da própria loja, com método e limites declarados.</a:t>
            </a:r>
            <a:endParaRPr lang="en-US" sz="12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5056632"/>
            <a:ext cx="274320" cy="27432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325880" y="5029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caminho aponta para você</a:t>
            </a:r>
            <a:endParaRPr lang="en-US" sz="1600" dirty="0"/>
          </a:p>
        </p:txBody>
      </p:sp>
      <p:sp>
        <p:nvSpPr>
          <p:cNvPr id="13" name="Text 8"/>
          <p:cNvSpPr/>
          <p:nvPr/>
        </p:nvSpPr>
        <p:spPr>
          <a:xfrm>
            <a:off x="1325880" y="539496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item crítico traz o passo a passo de regularização via OCD — com seu contato como próximo passo natural.</a:t>
            </a:r>
            <a:endParaRPr lang="en-US" sz="1250" dirty="0"/>
          </a:p>
        </p:txBody>
      </p:sp>
      <p:sp>
        <p:nvSpPr>
          <p:cNvPr id="14" name="Text 9"/>
          <p:cNvSpPr/>
          <p:nvPr/>
        </p:nvSpPr>
        <p:spPr>
          <a:xfrm>
            <a:off x="868680" y="621792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Impressão em PDF nativa — anexa no e-mail ou WhatsApp do lojista.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6858000" y="640080"/>
            <a:ext cx="4892040" cy="5852160"/>
          </a:xfrm>
          <a:prstGeom prst="roundRect">
            <a:avLst>
              <a:gd name="adj" fmla="val 112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94A3B8">
                <a:alpha val="35000"/>
              </a:srgbClr>
            </a:outerShdw>
          </a:effectLst>
        </p:spPr>
      </p:sp>
      <p:pic>
        <p:nvPicPr>
          <p:cNvPr id="16" name="Image 3" descr="/tmp/claude-0/-home-user-homes-by-fattori/31a6da06-2941-5f08-ba8a-367c1350e56a/scratchpad/relatorio-tigh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6600" y="868680"/>
            <a:ext cx="4434840" cy="539496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147572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21208"/>
            <a:ext cx="146304" cy="146304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3" name="Text 1"/>
          <p:cNvSpPr/>
          <p:nvPr/>
        </p:nvSpPr>
        <p:spPr>
          <a:xfrm>
            <a:off x="1060704" y="39319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RADAR CONFORMIDADE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105156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pipeline do seu comercial:</a:t>
            </a:r>
            <a:endParaRPr lang="en-US" sz="30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ranking de prospecção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77240" y="2468880"/>
            <a:ext cx="7589520" cy="3977640"/>
          </a:xfrm>
          <a:prstGeom prst="roundRect">
            <a:avLst>
              <a:gd name="adj" fmla="val 137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94A3B8">
                <a:alpha val="35000"/>
              </a:srgbClr>
            </a:outerShdw>
          </a:effectLst>
        </p:spPr>
      </p:sp>
      <p:pic>
        <p:nvPicPr>
          <p:cNvPr id="6" name="Image 0" descr="/tmp/claude-0/-home-user-homes-by-fattori/31a6da06-2941-5f08-ba8a-367c1350e56a/scratchpad/leads-t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697480"/>
            <a:ext cx="7132320" cy="3630168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0" y="2761488"/>
            <a:ext cx="256032" cy="25603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098280" y="274320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Leads qualificados por perfil</a:t>
            </a:r>
            <a:endParaRPr lang="en-US" sz="1450" dirty="0"/>
          </a:p>
        </p:txBody>
      </p:sp>
      <p:sp>
        <p:nvSpPr>
          <p:cNvPr id="9" name="Text 5"/>
          <p:cNvSpPr/>
          <p:nvPr/>
        </p:nvSpPr>
        <p:spPr>
          <a:xfrm>
            <a:off x="9098280" y="331012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marca identificável × revendedor de genérico — só o primeiro certifica</a:t>
            </a:r>
            <a:endParaRPr lang="en-US" sz="11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0" y="3950208"/>
            <a:ext cx="256032" cy="25603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098280" y="393192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"Maior dor" por loja</a:t>
            </a:r>
            <a:endParaRPr lang="en-US" sz="1450" dirty="0"/>
          </a:p>
        </p:txBody>
      </p:sp>
      <p:sp>
        <p:nvSpPr>
          <p:cNvPr id="12" name="Text 7"/>
          <p:cNvSpPr/>
          <p:nvPr/>
        </p:nvSpPr>
        <p:spPr>
          <a:xfrm>
            <a:off x="9098280" y="449884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gancho da primeira mensagem</a:t>
            </a:r>
            <a:endParaRPr lang="en-US" sz="11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0" y="5138928"/>
            <a:ext cx="256032" cy="25603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9098280" y="512064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CSV para o seu CRM</a:t>
            </a:r>
            <a:endParaRPr lang="en-US" sz="1450" dirty="0"/>
          </a:p>
        </p:txBody>
      </p:sp>
      <p:sp>
        <p:nvSpPr>
          <p:cNvPr id="15" name="Text 9"/>
          <p:cNvSpPr/>
          <p:nvPr/>
        </p:nvSpPr>
        <p:spPr>
          <a:xfrm>
            <a:off x="9098280" y="568756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 direto no funil</a:t>
            </a:r>
            <a:endParaRPr lang="en-US" sz="1150" dirty="0"/>
          </a:p>
        </p:txBody>
      </p:sp>
      <p:sp>
        <p:nvSpPr>
          <p:cNvPr id="16" name="Text 10"/>
          <p:cNvSpPr/>
          <p:nvPr/>
        </p:nvSpPr>
        <p:spPr>
          <a:xfrm>
            <a:off x="1147572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21208"/>
            <a:ext cx="146304" cy="146304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3" name="Text 1"/>
          <p:cNvSpPr/>
          <p:nvPr/>
        </p:nvSpPr>
        <p:spPr>
          <a:xfrm>
            <a:off x="1060704" y="39319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RADAR CONFORMIDADE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9144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que essa abordagem converte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1920240"/>
            <a:ext cx="10607040" cy="1554480"/>
          </a:xfrm>
          <a:prstGeom prst="roundRect">
            <a:avLst>
              <a:gd name="adj" fmla="val 5882"/>
            </a:avLst>
          </a:prstGeom>
          <a:solidFill>
            <a:srgbClr val="7F1D1D"/>
          </a:solidFill>
          <a:ln/>
        </p:spPr>
      </p:sp>
      <p:sp>
        <p:nvSpPr>
          <p:cNvPr id="6" name="Text 4"/>
          <p:cNvSpPr/>
          <p:nvPr/>
        </p:nvSpPr>
        <p:spPr>
          <a:xfrm>
            <a:off x="1234440" y="1920240"/>
            <a:ext cx="9692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700"/>
              </a:lnSpc>
              <a:buNone/>
            </a:pPr>
            <a:r>
              <a:rPr lang="en-US" sz="20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“Entre R$ 17 e 39 mil por mês do faturamento da sua loja está em risco de remoção — </a:t>
            </a:r>
            <a:pPr indent="0" marL="0">
              <a:lnSpc>
                <a:spcPts val="2700"/>
              </a:lnSpc>
              <a:buNone/>
            </a:pPr>
            <a:r>
              <a:rPr lang="en-US" sz="2000" b="1" i="1" dirty="0">
                <a:solidFill>
                  <a:srgbClr val="FC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aqui está o caminho para resolver.”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77240" y="397764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65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é venda, é diagnóstico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777240" y="4663440"/>
            <a:ext cx="3383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conversa não começa com "compre certificação". Começa com informação verificável sobre a loja do próprio prospect.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434840" y="397764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65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dor chega quantificada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4434840" y="4663440"/>
            <a:ext cx="3383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Números em R$, da loja dele, com fonte pública. Urgência sem precisar convencer ninguém de nada.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092440" y="397764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65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Você é a solução no documento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8092440" y="4663440"/>
            <a:ext cx="3383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o lojista decide agir, o próximo passo com seu contato já está no papel que ele tem na mão.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77240" y="612648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Transparência no próprio relatório: dados públicos, análise automatizada, recomendação de validação — credibilidade que panfleto não tem.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47572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21208"/>
            <a:ext cx="146304" cy="146304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3" name="Text 1"/>
          <p:cNvSpPr/>
          <p:nvPr/>
        </p:nvSpPr>
        <p:spPr>
          <a:xfrm>
            <a:off x="1060704" y="39319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RADAR CONFORMIDADE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9144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Piloto de 30 dias — desenho para provar ROI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2011680"/>
            <a:ext cx="3337560" cy="2834640"/>
          </a:xfrm>
          <a:prstGeom prst="roundRect">
            <a:avLst>
              <a:gd name="adj" fmla="val 258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228600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Semana 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51560" y="265176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51560" y="3200400"/>
            <a:ext cx="2788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Você indica 10–20 lojas do seu nicho-alvo. Configuramos sua marca (cores, contato, chamada) nos relatórios.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480560" y="2011680"/>
            <a:ext cx="3337560" cy="2834640"/>
          </a:xfrm>
          <a:prstGeom prst="roundRect">
            <a:avLst>
              <a:gd name="adj" fmla="val 258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228600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Semana 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54880" y="265176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Entrega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754880" y="3200400"/>
            <a:ext cx="2788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Ranking de prospecção + relatório individual de cada loja, prontos para abordagem. Revisão conjunta dos 5 melhores leads.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183880" y="2011680"/>
            <a:ext cx="3337560" cy="2834640"/>
          </a:xfrm>
          <a:prstGeom prst="roundRect">
            <a:avLst>
              <a:gd name="adj" fmla="val 258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58200" y="228600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Semanas 3–4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458200" y="265176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Abordagem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458200" y="3200400"/>
            <a:ext cx="2788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Seu comercial envia os relatórios; acompanhamos as duas primeiras conversas e ajustamos o material com o feedback real.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77240" y="5212080"/>
            <a:ext cx="10607040" cy="1051560"/>
          </a:xfrm>
          <a:prstGeom prst="roundRect">
            <a:avLst>
              <a:gd name="adj" fmla="val 6957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5486400"/>
            <a:ext cx="457200" cy="45720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737360" y="5212080"/>
            <a:ext cx="9418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Critério de sucesso combinado antes de começar: </a:t>
            </a:r>
            <a:pPr indent="0" marL="0">
              <a:lnSpc>
                <a:spcPts val="1900"/>
              </a:lnSpc>
              <a:buNone/>
            </a:pPr>
            <a:r>
              <a:rPr lang="en-US" sz="14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contrato de homologação originado pelos relatórios = piloto pago muitas vezes. Sem contrato, sem renovação — risco nosso, não seu.</a:t>
            </a:r>
            <a:endParaRPr lang="en-US" sz="1450" dirty="0"/>
          </a:p>
        </p:txBody>
      </p:sp>
      <p:sp>
        <p:nvSpPr>
          <p:cNvPr id="20" name="Text 17"/>
          <p:cNvSpPr/>
          <p:nvPr/>
        </p:nvSpPr>
        <p:spPr>
          <a:xfrm>
            <a:off x="1147572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21208"/>
            <a:ext cx="146304" cy="146304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3" name="Text 1"/>
          <p:cNvSpPr/>
          <p:nvPr/>
        </p:nvSpPr>
        <p:spPr>
          <a:xfrm>
            <a:off x="1060704" y="39319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RADAR CONFORMIDADE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9144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Investimento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1874520"/>
            <a:ext cx="3337560" cy="2880360"/>
          </a:xfrm>
          <a:prstGeom prst="roundRect">
            <a:avLst>
              <a:gd name="adj" fmla="val 254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214884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PILOTO · 30 DIAS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1051560" y="2514600"/>
            <a:ext cx="2788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R$ 997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1051560" y="3200400"/>
            <a:ext cx="27889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até 20 scans · relatórios white-label · ranking de leads · acompanhamento das 2 primeiras abordagens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480560" y="1874520"/>
            <a:ext cx="3337560" cy="2880360"/>
          </a:xfrm>
          <a:prstGeom prst="roundRect">
            <a:avLst>
              <a:gd name="adj" fmla="val 2540"/>
            </a:avLst>
          </a:prstGeom>
          <a:solidFill>
            <a:srgbClr val="EFF6FF"/>
          </a:solidFill>
          <a:ln w="25400">
            <a:solidFill>
              <a:srgbClr val="BFDB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214884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ESSENCIAL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754880" y="2514600"/>
            <a:ext cx="2788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R$ 1.997/mês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4754880" y="3200400"/>
            <a:ext cx="27889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até 100 scans/mês · white-label completo · atualização semanal da base ANATEL · suporte por e-mail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54880" y="443484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mais escolhido no pós-piloto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183880" y="1874520"/>
            <a:ext cx="3337560" cy="2880360"/>
          </a:xfrm>
          <a:prstGeom prst="roundRect">
            <a:avLst>
              <a:gd name="adj" fmla="val 254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58200" y="214884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PROFISSIONAL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458200" y="2514600"/>
            <a:ext cx="2788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R$ 3.497/mês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8458200" y="3200400"/>
            <a:ext cx="27889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scans ilimitados · regras ajustadas ao seu nicho · prioridade de suporte e evolução do produto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77240" y="5120640"/>
            <a:ext cx="10607040" cy="1188720"/>
          </a:xfrm>
          <a:prstGeom prst="roundRect">
            <a:avLst>
              <a:gd name="adj" fmla="val 6154"/>
            </a:avLst>
          </a:prstGeom>
          <a:solidFill>
            <a:srgbClr val="14283F"/>
          </a:solidFill>
          <a:ln/>
        </p:spPr>
      </p:sp>
      <p:sp>
        <p:nvSpPr>
          <p:cNvPr id="19" name="Text 17"/>
          <p:cNvSpPr/>
          <p:nvPr/>
        </p:nvSpPr>
        <p:spPr>
          <a:xfrm>
            <a:off x="1188720" y="5120640"/>
            <a:ext cx="9784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conta do ROI:  </a:t>
            </a:r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único processo de homologação fatura da ordem de R$ 15–40 mil para a certificadora. </a:t>
            </a:r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contrato fechado por trimestre paga a licença o ano inteiro.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77240" y="6400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Valores de referência para o piloto — condições finais em contrato.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147572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21208"/>
            <a:ext cx="146304" cy="146304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3" name="Text 1"/>
          <p:cNvSpPr/>
          <p:nvPr/>
        </p:nvSpPr>
        <p:spPr>
          <a:xfrm>
            <a:off x="1060704" y="39319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RADAR CONFORMIDADE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9144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Construído para não te queimar</a:t>
            </a:r>
            <a:endParaRPr lang="en-US" sz="3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911096"/>
            <a:ext cx="292608" cy="292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874520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Só dados públicos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1371600" y="2258568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oficial do Mercado Livre e base de dados abertos da ANATEL. Nenhum dado privado de vendedor, nenhuma invasão.</a:t>
            </a:r>
            <a:endParaRPr lang="en-US" sz="12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3026664"/>
            <a:ext cx="292608" cy="2926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71600" y="2990088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Anti-falso-positivo por desenho</a:t>
            </a:r>
            <a:endParaRPr lang="en-US" sz="1650" dirty="0"/>
          </a:p>
        </p:txBody>
      </p:sp>
      <p:sp>
        <p:nvSpPr>
          <p:cNvPr id="10" name="Text 6"/>
          <p:cNvSpPr/>
          <p:nvPr/>
        </p:nvSpPr>
        <p:spPr>
          <a:xfrm>
            <a:off x="1371600" y="3374136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Item crítico só com alta convicção (título + categoria + ausência de código). Toda dúvida vira "atenção", nunca "crítico" — acusar loja regular destruiria sua credibilidade.</a:t>
            </a:r>
            <a:endParaRPr lang="en-US" sz="12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4142232"/>
            <a:ext cx="292608" cy="29260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371600" y="4105656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Limites declarados no próprio relatório</a:t>
            </a:r>
            <a:endParaRPr lang="en-US" sz="1650" dirty="0"/>
          </a:p>
        </p:txBody>
      </p:sp>
      <p:sp>
        <p:nvSpPr>
          <p:cNvPr id="13" name="Text 8"/>
          <p:cNvSpPr/>
          <p:nvPr/>
        </p:nvSpPr>
        <p:spPr>
          <a:xfrm>
            <a:off x="1371600" y="4489704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"Não constitui parecer jurídico; análise automatizada sujeita a falsos positivos; recomenda-se validação" — impresso em todo documento.</a:t>
            </a:r>
            <a:endParaRPr lang="en-US" sz="125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5257800"/>
            <a:ext cx="292608" cy="29260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371600" y="5221224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orientação de evasão</a:t>
            </a:r>
            <a:endParaRPr lang="en-US" sz="1650" dirty="0"/>
          </a:p>
        </p:txBody>
      </p:sp>
      <p:sp>
        <p:nvSpPr>
          <p:cNvPr id="16" name="Text 10"/>
          <p:cNvSpPr/>
          <p:nvPr/>
        </p:nvSpPr>
        <p:spPr>
          <a:xfrm>
            <a:off x="1371600" y="5605272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relatório só aponta o caminho de regularização. Nada de "como esconder da fiscalização".</a:t>
            </a:r>
            <a:endParaRPr lang="en-US" sz="1250" dirty="0"/>
          </a:p>
        </p:txBody>
      </p:sp>
      <p:sp>
        <p:nvSpPr>
          <p:cNvPr id="17" name="Text 11"/>
          <p:cNvSpPr/>
          <p:nvPr/>
        </p:nvSpPr>
        <p:spPr>
          <a:xfrm>
            <a:off x="1147572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28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795528"/>
            <a:ext cx="146304" cy="146304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3" name="Text 1"/>
          <p:cNvSpPr/>
          <p:nvPr/>
        </p:nvSpPr>
        <p:spPr>
          <a:xfrm>
            <a:off x="1060704" y="66751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RADAR CONFORMIDADE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841248" y="2468880"/>
            <a:ext cx="182880" cy="182880"/>
          </a:xfrm>
          <a:prstGeom prst="ellipse">
            <a:avLst/>
          </a:prstGeom>
          <a:solidFill>
            <a:srgbClr val="B91C1C"/>
          </a:solidFill>
          <a:ln/>
        </p:spPr>
      </p:sp>
      <p:sp>
        <p:nvSpPr>
          <p:cNvPr id="5" name="Shape 3"/>
          <p:cNvSpPr/>
          <p:nvPr/>
        </p:nvSpPr>
        <p:spPr>
          <a:xfrm>
            <a:off x="1152144" y="2468880"/>
            <a:ext cx="182880" cy="182880"/>
          </a:xfrm>
          <a:prstGeom prst="ellipse">
            <a:avLst/>
          </a:prstGeom>
          <a:solidFill>
            <a:srgbClr val="EAB308"/>
          </a:solidFill>
          <a:ln/>
        </p:spPr>
      </p:sp>
      <p:sp>
        <p:nvSpPr>
          <p:cNvPr id="6" name="Shape 4"/>
          <p:cNvSpPr/>
          <p:nvPr/>
        </p:nvSpPr>
        <p:spPr>
          <a:xfrm>
            <a:off x="1463040" y="2468880"/>
            <a:ext cx="182880" cy="182880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697480"/>
            <a:ext cx="10607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Próximo passo: escolha 10 lojas</a:t>
            </a:r>
            <a:endParaRPr lang="en-US" sz="36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seu nicho. Nós mostramos os leads.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777240" y="457200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com dados reais do seu mercado em até 7 dias — antes de qualquer contrato.</a:t>
            </a:r>
            <a:endParaRPr lang="en-US" sz="1600" dirty="0"/>
          </a:p>
          <a:p>
            <a:pPr indent="0" marL="0">
              <a:lnSpc>
                <a:spcPts val="23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o ranking não te convencer, a conversa termina ali, sem custo.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" y="58978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[seu nome] · [e-mail] · [WhatsApp]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2026-08-04T02:46:17Z</dcterms:created>
  <dcterms:modified xsi:type="dcterms:W3CDTF">2026-08-04T02:46:17Z</dcterms:modified>
</cp:coreProperties>
</file>