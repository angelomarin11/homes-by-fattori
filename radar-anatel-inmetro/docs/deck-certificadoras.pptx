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não vendemos software, vendemos pipeline de vendas. A tese em uma frase: a fiscalização da ANATEL criou um mercado de clientes que precisam de vocês e ainda não sabem.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regulatório em 60 segundos. O ponto de virada foi fev/2026: sem liminar, o ML remove. Vendedor com anúncio removido = cliente urgente de certificação.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Espelhar a dor deles antes da solução. Perguntar: como vocês prospectam hoje? Quanto custa fechar um contrato novo?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coração do pitch. Enfatizar: o output não é "dados", é material de abordagem pronto — o vendedor deles pega o relatório e envia.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relatório real (demo CertifiQA). Ponto-chave: o lojista não recebe propaganda, recebe um diagnóstico com números da loja dele — reciprocidade + urgência.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comercial deles abre isso na segunda-feira e sabe quem ligar primeiro e com qual número na boca.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psicologia da abordagem: reciprocidade (diagnóstico grátis) + prova (dados públicos) + urgência (remoção em curso). O relatório declara os próprios limites — isso aumenta a confiança.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Piloto barato, curto, com critério de sucesso objetivo. A frase "risco nosso" derruba a principal objeção.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Ancorar no valor do contrato de homologação, nunca no custo do software. Se pedirem desconto: trocar por compromisso (case de sucesso, indicação, anualidade).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Antecipar as objeções de compliance da própria certificadora — o público mais sensível a isso. O sistema é conservador de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pedindo uma coisa pequena e concreta: a lista de 10 lojas. Quem manda a lista já é cliente do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95528"/>
            <a:ext cx="146304" cy="14630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667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41248" y="2743200"/>
            <a:ext cx="182880" cy="18288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5" name="Shape 3"/>
          <p:cNvSpPr/>
          <p:nvPr/>
        </p:nvSpPr>
        <p:spPr>
          <a:xfrm>
            <a:off x="1152144" y="2743200"/>
            <a:ext cx="182880" cy="182880"/>
          </a:xfrm>
          <a:prstGeom prst="ellipse">
            <a:avLst/>
          </a:prstGeom>
          <a:solidFill>
            <a:srgbClr val="EAB308"/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2743200"/>
            <a:ext cx="182880" cy="182880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7180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máquina de leads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certificadoras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77240" y="48920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Resolução ANATEL 780/2025 criou milhares de vendedores irregulares no Mercado Livre.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Radar Conformidade encontra cada um deles — e entrega o lead com a sua marca.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licenciamento white-label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21208"/>
            <a:ext cx="146304" cy="14630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393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mercado de certificação nunca teve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momento como este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30175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148" y="3150108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3794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Res. 780/2025 em pleno vigor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51560" y="45262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a queda da liminar do Mercado Livre (fev/2026): anúncios de produtos de RF/telecom são obrigados a exibir o código de homologação.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34840" y="269748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09160" y="30175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3150108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9160" y="3794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Fiscalização por IA (Regulatron)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09160" y="45262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ANATEL varre marketplaces com ferramenta própria. Milhares de anúncios já foram removidos — e a varredura não para.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92440" y="269748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66760" y="30175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348" y="3150108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66760" y="3794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Responsabilidade solidária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366760" y="45262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e vendedor respondem juntos. O ML agora remove anúncios irregulares por conta própria — o vendedor sente no caixa.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Tradução comercial: existe um estoque enorme de clientes que precisam homologar — agora, e sob pressão.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14757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21208"/>
            <a:ext cx="146304" cy="14630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393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prospectar esses clientes é caro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68680" y="2084832"/>
            <a:ext cx="548640" cy="548640"/>
          </a:xfrm>
          <a:prstGeom prst="ellipse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116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lead não sabe que tem o problema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691640" y="242316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conversa começa com evangelização: explicar a 780/2025, o risco, a multa — antes de falar do serviço.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68680" y="3410712"/>
            <a:ext cx="548640" cy="548640"/>
          </a:xfrm>
          <a:prstGeom prst="ellipse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353872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quem precisa é trabalho manual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691640" y="374904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Descobrir quais lojas vendem produto sem homologação exige analisar catálogos anúncio por anúncio.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68680" y="4736592"/>
            <a:ext cx="548640" cy="548640"/>
          </a:xfrm>
          <a:prstGeom prst="ellipse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486460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6634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fria converte mal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1691640" y="507492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 dor quantificada, a abordagem vira spam: "você conhece a norma?" não abre porta de dono de loja.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777240" y="5897880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051560" y="589788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o custo de aquisição come a margem de um serviço que o mercado inteiro precisa comprar.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14757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21208"/>
            <a:ext cx="146304" cy="14630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393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Conformidade: da loja irregular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lead pronto, em três passos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2606040"/>
            <a:ext cx="3337560" cy="3200400"/>
          </a:xfrm>
          <a:prstGeom prst="roundRect">
            <a:avLst>
              <a:gd name="adj" fmla="val 2286"/>
            </a:avLst>
          </a:prstGeom>
          <a:solidFill>
            <a:srgbClr val="1E3A5F"/>
          </a:solidFill>
          <a:ln w="12700">
            <a:solidFill>
              <a:srgbClr val="2E4A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926080"/>
            <a:ext cx="603504" cy="603504"/>
          </a:xfrm>
          <a:prstGeom prst="ellipse">
            <a:avLst/>
          </a:prstGeom>
          <a:solidFill>
            <a:srgbClr val="14283F"/>
          </a:solidFill>
          <a:ln w="12700">
            <a:solidFill>
              <a:srgbClr val="2E4A7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2436" y="3076956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Escanear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051560" y="4251960"/>
            <a:ext cx="2788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indica as lojas do seu nicho. O sistema analisa cada anúncio: classifica ANATEL/INMETRO e confere o código de homologação na base pública.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142232" y="38404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4480560" y="2606040"/>
            <a:ext cx="3337560" cy="3200400"/>
          </a:xfrm>
          <a:prstGeom prst="roundRect">
            <a:avLst>
              <a:gd name="adj" fmla="val 2286"/>
            </a:avLst>
          </a:prstGeom>
          <a:solidFill>
            <a:srgbClr val="1E3A5F"/>
          </a:solidFill>
          <a:ln w="12700">
            <a:solidFill>
              <a:srgbClr val="2E4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54880" y="2926080"/>
            <a:ext cx="603504" cy="603504"/>
          </a:xfrm>
          <a:prstGeom prst="ellipse">
            <a:avLst/>
          </a:prstGeom>
          <a:solidFill>
            <a:srgbClr val="14283F"/>
          </a:solidFill>
          <a:ln w="12700">
            <a:solidFill>
              <a:srgbClr val="2E4A7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756" y="3076956"/>
            <a:ext cx="301752" cy="30175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Priorizar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4754880" y="4251960"/>
            <a:ext cx="2788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de leads ordenado por oportunidade: nº de anúncios críticos e faturamento mensal em risco — a dor já quantificada em R$.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7845552" y="38404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8183880" y="2606040"/>
            <a:ext cx="3337560" cy="3200400"/>
          </a:xfrm>
          <a:prstGeom prst="roundRect">
            <a:avLst>
              <a:gd name="adj" fmla="val 2286"/>
            </a:avLst>
          </a:prstGeom>
          <a:solidFill>
            <a:srgbClr val="1E3A5F"/>
          </a:solidFill>
          <a:ln w="12700">
            <a:solidFill>
              <a:srgbClr val="2E4A7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58200" y="2926080"/>
            <a:ext cx="603504" cy="603504"/>
          </a:xfrm>
          <a:prstGeom prst="ellipse">
            <a:avLst/>
          </a:prstGeom>
          <a:solidFill>
            <a:srgbClr val="14283F"/>
          </a:solidFill>
          <a:ln w="12700">
            <a:solidFill>
              <a:srgbClr val="2E4A7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076" y="3076956"/>
            <a:ext cx="301752" cy="30175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5820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Abordar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458200" y="4251960"/>
            <a:ext cx="2788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profissional com a SUA marca, pronto para enviar ao lojista como diagnóstico gratuito. O caminho de regularização aponta para o seu serviço.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777240" y="60807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instalação, sem TI: entrega mensal de ranking + relatórios, ou operação pela sua equipe.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14757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21208"/>
            <a:ext cx="146304" cy="14630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393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arma de abordagem: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com a sua marca</a:t>
            </a:r>
            <a:endParaRPr lang="en-US" sz="3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770632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2743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identidade, não a nossa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25880" y="31089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Nome, cores, contato e chamada comercial da certificadora — o lojista recebe um diagnóstico seu.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913632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3886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abre a porta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325880" y="42519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"Faturamento mensal em risco: R$ 28.294" — calculado com preço × vendas dos anúncios críticos da própria loja.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0566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aponta para você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1325880" y="53949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item crítico traz o passo a passo de regularização via OCD — com seu contato como próximo passo natural.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868680" y="62179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Impressão em PDF nativa — anexa no e-mail ou WhatsApp do lojista.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858000" y="640080"/>
            <a:ext cx="4892040" cy="5852160"/>
          </a:xfrm>
          <a:prstGeom prst="roundRect">
            <a:avLst>
              <a:gd name="adj" fmla="val 11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35000"/>
              </a:srgbClr>
            </a:outerShdw>
          </a:effectLst>
        </p:spPr>
      </p:sp>
      <p:pic>
        <p:nvPicPr>
          <p:cNvPr id="16" name="Image 3" descr="/tmp/claude-0/-home-user-homes-by-fattori/31a6da06-2941-5f08-ba8a-367c1350e56a/scratchpad/relatorio-t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868680"/>
            <a:ext cx="4434840" cy="53949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4757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21208"/>
            <a:ext cx="146304" cy="14630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393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pipeline do seu comercial: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de prospecção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2468880"/>
            <a:ext cx="7589520" cy="3977640"/>
          </a:xfrm>
          <a:prstGeom prst="roundRect">
            <a:avLst>
              <a:gd name="adj" fmla="val 13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35000"/>
              </a:srgbClr>
            </a:outerShdw>
          </a:effectLst>
        </p:spPr>
      </p:sp>
      <p:pic>
        <p:nvPicPr>
          <p:cNvPr id="6" name="Image 0" descr="/tmp/claude-0/-home-user-homes-by-fattori/31a6da06-2941-5f08-ba8a-367c1350e56a/scratchpad/leads-t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97480"/>
            <a:ext cx="7132320" cy="3630168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761488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098280" y="27432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Ordenado por oportunidade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9098280" y="3310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× faturamento em risco</a:t>
            </a:r>
            <a:endParaRPr lang="en-US" sz="11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95020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098280" y="39319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"Maior dor" por loja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9098280" y="44988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gancho da primeira mensagem</a:t>
            </a:r>
            <a:endParaRPr lang="en-US" sz="11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513892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098280" y="51206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para o seu CRM</a:t>
            </a:r>
            <a:endParaRPr lang="en-US" sz="1450" dirty="0"/>
          </a:p>
        </p:txBody>
      </p:sp>
      <p:sp>
        <p:nvSpPr>
          <p:cNvPr id="15" name="Text 9"/>
          <p:cNvSpPr/>
          <p:nvPr/>
        </p:nvSpPr>
        <p:spPr>
          <a:xfrm>
            <a:off x="9098280" y="56875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 direto no funil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114757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21208"/>
            <a:ext cx="146304" cy="14630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393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essa abordagem converte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10607040" cy="1554480"/>
          </a:xfrm>
          <a:prstGeom prst="roundRect">
            <a:avLst>
              <a:gd name="adj" fmla="val 5882"/>
            </a:avLst>
          </a:prstGeom>
          <a:solidFill>
            <a:srgbClr val="7F1D1D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1920240"/>
            <a:ext cx="9692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“R$ 28.294/mês do faturamento da sua loja está em risco de remoção — </a:t>
            </a:r>
            <a:pPr indent="0" marL="0">
              <a:lnSpc>
                <a:spcPts val="2700"/>
              </a:lnSpc>
              <a:buNone/>
            </a:pPr>
            <a:r>
              <a:rPr lang="en-US" sz="2000" b="1" i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aqui está o caminho para resolver.”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venda, é diagnóstico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77240" y="4663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 não começa com "compre certificação". Começa com informação verificável sobre a loja do próprio prospect.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34840" y="3977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chega quantificada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434840" y="4663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em R$, da loja dele, com fonte pública. Urgência sem precisar convencer ninguém de nada.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092440" y="3977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é a solução no documento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092440" y="4663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lojista decide agir, o próximo passo com seu contato já está no papel que ele tem na mão.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77240" y="6126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no próprio relatório: dados públicos, análise automatizada, recomendação de validação — credibilidade que panfleto não tem.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757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21208"/>
            <a:ext cx="146304" cy="14630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393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de 30 dias — desenho para provar ROI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3337560" cy="2834640"/>
          </a:xfrm>
          <a:prstGeom prst="roundRect">
            <a:avLst>
              <a:gd name="adj" fmla="val 25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2860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2651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indica 10–20 lojas do seu nicho-alvo. Configuramos sua marca (cores, contato, chamada) nos relatórios.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80560" y="2011680"/>
            <a:ext cx="3337560" cy="2834640"/>
          </a:xfrm>
          <a:prstGeom prst="roundRect">
            <a:avLst>
              <a:gd name="adj" fmla="val 25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22860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2651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54880" y="320040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de prospecção + relatório individual de cada loja, prontos para abordagem. Revisão conjunta dos 5 melhores leads.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83880" y="2011680"/>
            <a:ext cx="3337560" cy="2834640"/>
          </a:xfrm>
          <a:prstGeom prst="roundRect">
            <a:avLst>
              <a:gd name="adj" fmla="val 25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58200" y="22860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Semanas 3–4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58200" y="2651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58200" y="320040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comercial envia os relatórios; acompanhamos as duas primeiras conversas e ajustamos o material com o feedback real.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521208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5486400"/>
            <a:ext cx="457200" cy="4572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737360" y="5212080"/>
            <a:ext cx="9418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de sucesso combinado antes de começar: 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contrato de homologação originado pelos relatórios = piloto pago muitas vezes. Sem contrato, sem renovação — risco nosso, não seu.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14757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21208"/>
            <a:ext cx="146304" cy="14630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393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3337560" cy="2880360"/>
          </a:xfrm>
          <a:prstGeom prst="roundRect">
            <a:avLst>
              <a:gd name="adj" fmla="val 254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488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· 30 DIAS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51560" y="2514600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R$ 997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2788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20 scans · relatórios white-label · ranking de leads · acompanhamento das 2 primeiras abordagens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337560" cy="2880360"/>
          </a:xfrm>
          <a:prstGeom prst="roundRect">
            <a:avLst>
              <a:gd name="adj" fmla="val 2540"/>
            </a:avLst>
          </a:prstGeom>
          <a:solidFill>
            <a:srgbClr val="EFF6FF"/>
          </a:solidFill>
          <a:ln w="2540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21488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ESSENCIAL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0" y="2514600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R$ 1.997/mês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4754880" y="3200400"/>
            <a:ext cx="2788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100 scans/mês · white-label completo · atualização semanal da base ANATEL · suporte por e-mail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44348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escolhido no pós-piloto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83880" y="1874520"/>
            <a:ext cx="3337560" cy="2880360"/>
          </a:xfrm>
          <a:prstGeom prst="roundRect">
            <a:avLst>
              <a:gd name="adj" fmla="val 254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58200" y="21488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PROFISSIONAL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458200" y="2514600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R$ 3.497/mês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8458200" y="3200400"/>
            <a:ext cx="2788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scans ilimitados · regras ajustadas ao seu nicho · prioridade de suporte e evolução do produto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5120640"/>
            <a:ext cx="10607040" cy="1188720"/>
          </a:xfrm>
          <a:prstGeom prst="roundRect">
            <a:avLst>
              <a:gd name="adj" fmla="val 6154"/>
            </a:avLst>
          </a:prstGeom>
          <a:solidFill>
            <a:srgbClr val="14283F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512064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ROI: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único processo de homologação fatura da ordem de R$ 15–40 mil para a certificadora. </a:t>
            </a:r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contrato fechado por trimestre paga a licença o ano inteiro.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772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de referência para o piloto — condições finais em contrato.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4757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21208"/>
            <a:ext cx="146304" cy="14630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393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Construído para não te queimar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11096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874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dados públicos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371600" y="22585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oficial do Mercado Livre e base de dados abertos da ANATEL. Nenhum dado privado de vendedor, nenhuma invasão.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26664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9900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Anti-falso-positivo por desenho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1371600" y="3374136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 crítico só com alta convicção (título + categoria + ausência de código). Toda dúvida vira "atenção", nunca "crítico" — acusar loja regular destruiria sua credibilidade.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42232"/>
            <a:ext cx="292608" cy="2926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410565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Limites declarados no próprio relatório</a:t>
            </a:r>
            <a:endParaRPr lang="en-US" sz="1650" dirty="0"/>
          </a:p>
        </p:txBody>
      </p:sp>
      <p:sp>
        <p:nvSpPr>
          <p:cNvPr id="13" name="Text 8"/>
          <p:cNvSpPr/>
          <p:nvPr/>
        </p:nvSpPr>
        <p:spPr>
          <a:xfrm>
            <a:off x="1371600" y="44897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"Não constitui parecer jurídico; análise automatizada sujeita a falsos positivos; recomenda-se validação" — impresso em todo documento.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578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71600" y="522122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orientação de evasão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1371600" y="560527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só aponta o caminho de regularização. Nada de "como esconder da fiscalização".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114757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95528"/>
            <a:ext cx="146304" cy="14630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667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CONFORMIDADE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41248" y="2468880"/>
            <a:ext cx="182880" cy="18288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5" name="Shape 3"/>
          <p:cNvSpPr/>
          <p:nvPr/>
        </p:nvSpPr>
        <p:spPr>
          <a:xfrm>
            <a:off x="1152144" y="2468880"/>
            <a:ext cx="182880" cy="182880"/>
          </a:xfrm>
          <a:prstGeom prst="ellipse">
            <a:avLst/>
          </a:prstGeom>
          <a:solidFill>
            <a:srgbClr val="EAB308"/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2468880"/>
            <a:ext cx="182880" cy="182880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97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passo: escolha 10 lojas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seu nicho. Nós mostramos os leads.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45720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com dados reais do seu mercado em até 7 dias — antes de qualquer contrato.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ranking não te convencer, a conversa termina ali, sem custo.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897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[seu nome] · [e-mail] · [WhatsApp]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2026-07-30T16:00:25Z</dcterms:created>
  <dcterms:modified xsi:type="dcterms:W3CDTF">2026-07-30T16:00:25Z</dcterms:modified>
</cp:coreProperties>
</file>